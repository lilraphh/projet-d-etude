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customXml/itemProps2.xml" ContentType="application/vnd.openxmlformats-officedocument.customXml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4"/>
  </p:notesMasterIdLst>
  <p:handoutMasterIdLst>
    <p:handoutMasterId r:id="rId15"/>
  </p:handoutMasterIdLst>
  <p:sldIdLst>
    <p:sldId id="298" r:id="rId4"/>
    <p:sldId id="283" r:id="rId5"/>
    <p:sldId id="297" r:id="rId6"/>
    <p:sldId id="299" r:id="rId7"/>
    <p:sldId id="284" r:id="rId8"/>
    <p:sldId id="292" r:id="rId9"/>
    <p:sldId id="294" r:id="rId10"/>
    <p:sldId id="285" r:id="rId11"/>
    <p:sldId id="295" r:id="rId12"/>
    <p:sldId id="296" r:id="rId13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67" autoAdjust="0"/>
    <p:restoredTop sz="94574" autoAdjust="0"/>
  </p:normalViewPr>
  <p:slideViewPr>
    <p:cSldViewPr snapToGrid="0">
      <p:cViewPr varScale="1">
        <p:scale>
          <a:sx n="64" d="100"/>
          <a:sy n="64" d="100"/>
        </p:scale>
        <p:origin x="636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0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openxmlformats.org/officeDocument/2006/relationships/customXml" Target="../customXml/item3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BB651C5-239C-481D-B679-C1853F3D7869}" type="datetime1">
              <a:rPr lang="fr-FR" smtClean="0"/>
              <a:t>05/10/2025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3F468-A24C-40BA-9BA0-927B9D8CEF08}" type="datetime1">
              <a:rPr lang="fr-FR" smtClean="0"/>
              <a:pPr/>
              <a:t>05/10/2025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2276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6499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716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532B7-689C-D4C3-D3DF-72C3C2EC2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DDB296C-D2FE-E472-0CB0-E4839809D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220C37B-00BC-1597-AAD2-282464CA1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3E3551-F4A1-5D29-1D91-CA76D2253D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6874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47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794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6871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798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27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620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d’image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360000" rIns="252000" bIns="180000" rtlCol="0" anchor="t">
            <a:noAutofit/>
          </a:bodyPr>
          <a:lstStyle>
            <a:lvl1pPr algn="r">
              <a:defRPr lang="en-ZA" sz="4000" b="1" spc="-300" dirty="0"/>
            </a:lvl1pPr>
          </a:lstStyle>
          <a:p>
            <a:pPr lvl="0" algn="r" rtl="0"/>
            <a:r>
              <a:rPr lang="fr-FR" noProof="0" dirty="0"/>
              <a:t>Cliquez pour modifier le titre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fr-FR" noProof="0"/>
              <a:t>Modifiez le style des sous-titres du masque</a:t>
            </a:r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séparation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d’image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</a:t>
            </a:r>
            <a:br>
              <a:rPr lang="fr-FR" noProof="0" dirty="0"/>
            </a:br>
            <a:r>
              <a:rPr lang="fr-FR" noProof="0" dirty="0"/>
              <a:t>votre photo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324000" rIns="252000" bIns="180000" rtlCol="0" anchor="t">
            <a:noAutofit/>
          </a:bodyPr>
          <a:lstStyle>
            <a:lvl1pPr algn="r">
              <a:defRPr lang="en-ZA" sz="4800" b="1" spc="-300" dirty="0"/>
            </a:lvl1pPr>
          </a:lstStyle>
          <a:p>
            <a:pPr lvl="0" algn="r" rtl="0"/>
            <a:r>
              <a:rPr lang="fr-FR" noProof="0" dirty="0"/>
              <a:t>Cliquez pour modifier le séparateur de section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séparation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d’image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</a:t>
            </a:r>
            <a:br>
              <a:rPr lang="fr-FR" noProof="0" dirty="0"/>
            </a:br>
            <a:r>
              <a:rPr lang="fr-FR" noProof="0" dirty="0"/>
              <a:t>votre photo ici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48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Cliquez pour modifier le séparateur de section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Modifiez le style des sous-titres du masque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 noProof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Text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votre 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defRPr sz="36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Modifier le titre de la page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Image du tex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defRPr sz="4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Cliquez pour modifier le titre de la page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e comparaison gauche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Espace réservé de comparaison gauche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/>
              <a:t>Insérez ou glissez-déplacez votre photo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Entrez votre légende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de votre atten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d’image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fr-FR" noProof="0" dirty="0"/>
              <a:t>Insérez ou glissez-déplacez votre photo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08000" tIns="108000" rIns="252000" bIns="180000" rtlCol="0" anchor="t">
            <a:noAutofit/>
          </a:bodyPr>
          <a:lstStyle>
            <a:lvl1pPr algn="r">
              <a:lnSpc>
                <a:spcPct val="70000"/>
              </a:lnSpc>
              <a:defRPr lang="en-ZA" sz="4000" b="1" spc="-300" dirty="0"/>
            </a:lvl1pPr>
          </a:lstStyle>
          <a:p>
            <a:pPr lvl="0" algn="r" rtl="0"/>
            <a:r>
              <a:rPr lang="fr-FR" noProof="0" dirty="0"/>
              <a:t>Merci de votre attention</a:t>
            </a: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Nom complet</a:t>
            </a: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Numéro de téléphone</a:t>
            </a:r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Poignée E-mail ou Réseaux sociaux</a:t>
            </a:r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Site web de l’entreprise</a:t>
            </a:r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5" name="Espace réservé du numéro de diapositive 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Espace réservé du texte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 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fr-FR" noProof="0"/>
              <a:t>Sous-titre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4" name="Espace réservé du numéro de diapositive 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fr-FR" noProof="0"/>
              <a:t>Cliquez pour modifier le titre de la page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4" name="Zone de texte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30153"/>
            <a:ext cx="1053900" cy="365535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fr-FR" sz="2500" b="1" i="0" spc="-100" noProof="0">
                <a:solidFill>
                  <a:schemeClr val="accent1"/>
                </a:solidFill>
                <a:latin typeface="+mj-lt"/>
              </a:rPr>
              <a:t>TREY</a:t>
            </a:r>
            <a:r>
              <a:rPr lang="fr-FR" sz="1600" b="1" i="0" spc="-100" noProof="0">
                <a:solidFill>
                  <a:schemeClr val="accent1"/>
                </a:solidFill>
                <a:latin typeface="+mj-lt"/>
              </a:rPr>
              <a:t> </a:t>
            </a:r>
            <a:br>
              <a:rPr lang="fr-FR" sz="1600" b="1" i="0" spc="-100" baseline="0" noProof="0">
                <a:solidFill>
                  <a:schemeClr val="accent1"/>
                </a:solidFill>
                <a:latin typeface="+mj-lt"/>
              </a:rPr>
            </a:br>
            <a:r>
              <a:rPr lang="fr-FR" sz="1200" b="0" i="0" spc="140" noProof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9" name="Rectangle 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ce réservé d’image 11" descr="Mains rassemblées en cercle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 tIns="216000" rtlCol="0"/>
          <a:lstStyle/>
          <a:p>
            <a:pPr algn="l"/>
            <a:r>
              <a:rPr lang="fr-FR" dirty="0"/>
              <a:t>Lancement du Projet d’Études </a:t>
            </a:r>
            <a:br>
              <a:rPr lang="fr-FR" dirty="0"/>
            </a:br>
            <a:r>
              <a:rPr lang="fr-FR" dirty="0"/>
              <a:t>M2 Big Data &amp; IA 2025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8991600" cy="1261295"/>
          </a:xfrm>
        </p:spPr>
        <p:txBody>
          <a:bodyPr rtlCol="0"/>
          <a:lstStyle/>
          <a:p>
            <a:pPr algn="l"/>
            <a:r>
              <a:rPr lang="fr-FR" sz="2000" b="1" dirty="0"/>
              <a:t>Plateforme intelligente </a:t>
            </a:r>
            <a:r>
              <a:rPr lang="fr-FR" sz="2000" dirty="0"/>
              <a:t>de gestion et de prévision de la mobilité urbaine, basée sur l’exploitation de données ouvertes issues de portails comme Open Data Soft, Data.gov et le European Data Portal.</a:t>
            </a:r>
            <a:br>
              <a:rPr lang="en-US" sz="2000" dirty="0"/>
            </a:b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8053" y="1687758"/>
            <a:ext cx="6460434" cy="3749314"/>
          </a:xfrm>
        </p:spPr>
        <p:txBody>
          <a:bodyPr rtlCol="0"/>
          <a:lstStyle/>
          <a:p>
            <a:pPr marL="0" indent="0">
              <a:buNone/>
            </a:pPr>
            <a:r>
              <a:rPr lang="fr-FR" sz="3200" dirty="0"/>
              <a:t>Les villes font face à des </a:t>
            </a:r>
            <a:r>
              <a:rPr lang="fr-FR" sz="3200" b="1" dirty="0"/>
              <a:t>problèmes majeurs de mobilité urbaine</a:t>
            </a:r>
            <a:r>
              <a:rPr lang="fr-FR" sz="3200" dirty="0"/>
              <a:t> :</a:t>
            </a:r>
          </a:p>
          <a:p>
            <a:r>
              <a:rPr lang="fr-FR" sz="3200" dirty="0"/>
              <a:t>embouteillages chroniques, </a:t>
            </a:r>
          </a:p>
          <a:p>
            <a:r>
              <a:rPr lang="fr-FR" sz="3200" dirty="0"/>
              <a:t>retards des transports publics,</a:t>
            </a:r>
          </a:p>
          <a:p>
            <a:r>
              <a:rPr lang="fr-FR" sz="3200" dirty="0"/>
              <a:t>pollution atmosphérique,</a:t>
            </a:r>
          </a:p>
          <a:p>
            <a:r>
              <a:rPr lang="fr-FR" sz="3200" dirty="0"/>
              <a:t>sonore, insatisfaction des citoyens. </a:t>
            </a:r>
          </a:p>
          <a:p>
            <a:pPr marL="0" indent="0">
              <a:buNone/>
            </a:pPr>
            <a:endParaRPr lang="fr-FR" sz="3200" dirty="0"/>
          </a:p>
        </p:txBody>
      </p:sp>
      <p:pic>
        <p:nvPicPr>
          <p:cNvPr id="9" name="Espace réservé d’image 8" descr="Mains sur un téléphone portable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51374" y="-934279"/>
            <a:ext cx="6096000" cy="6371351"/>
          </a:xfrm>
        </p:spPr>
      </p:pic>
      <p:sp>
        <p:nvSpPr>
          <p:cNvPr id="20" name="Rectangle 19" descr="Bloc d’accentuation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5A3DAFE3-2676-A524-E20B-C5CBB410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800" y="3802899"/>
            <a:ext cx="4648200" cy="1554292"/>
          </a:xfrm>
        </p:spPr>
        <p:txBody>
          <a:bodyPr/>
          <a:lstStyle/>
          <a:p>
            <a:r>
              <a:rPr lang="fr-FR" sz="4400" dirty="0"/>
              <a:t>Contexte et problématique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EA2FDF-0AFA-66CE-5C69-F660C55965DE}"/>
              </a:ext>
            </a:extLst>
          </p:cNvPr>
          <p:cNvSpPr/>
          <p:nvPr/>
        </p:nvSpPr>
        <p:spPr>
          <a:xfrm>
            <a:off x="9740348" y="6371351"/>
            <a:ext cx="2019652" cy="432000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ce réservé d’image 13" descr="Main écrivant sur un pense-bête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Rectangle 19" descr="Bloc d’accentuation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02233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512" y="209959"/>
            <a:ext cx="5965487" cy="1648658"/>
          </a:xfrm>
        </p:spPr>
        <p:txBody>
          <a:bodyPr rtlCol="0"/>
          <a:lstStyle/>
          <a:p>
            <a:r>
              <a:rPr lang="fr-FR" sz="4400" dirty="0"/>
              <a:t>Objectifs du </a:t>
            </a:r>
            <a:br>
              <a:rPr lang="fr-FR" sz="4400" dirty="0"/>
            </a:br>
            <a:r>
              <a:rPr lang="fr-FR" sz="4400" dirty="0"/>
              <a:t>projet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7999" y="1966342"/>
            <a:ext cx="5472000" cy="4275431"/>
          </a:xfrm>
        </p:spPr>
        <p:txBody>
          <a:bodyPr rtlCol="0"/>
          <a:lstStyle/>
          <a:p>
            <a:pPr marL="0" indent="0">
              <a:buNone/>
            </a:pPr>
            <a:r>
              <a:rPr lang="fr-FR" sz="2400" dirty="0"/>
              <a:t>Avec la montée en puissance des données ouvertes et des technologies, il devient possible d’analyser ces informations pour :</a:t>
            </a:r>
          </a:p>
          <a:p>
            <a:pPr lvl="0"/>
            <a:r>
              <a:rPr lang="fr-FR" sz="2000" b="1" dirty="0"/>
              <a:t>Réduire la congestion urbaine en anticipant les flux de trafic.</a:t>
            </a:r>
          </a:p>
          <a:p>
            <a:pPr lvl="0"/>
            <a:r>
              <a:rPr lang="fr-FR" sz="2000" b="1" dirty="0"/>
              <a:t>Améliorer la gestion des transports publics.</a:t>
            </a:r>
          </a:p>
          <a:p>
            <a:pPr lvl="0"/>
            <a:r>
              <a:rPr lang="fr-FR" sz="2000" b="1" dirty="0"/>
              <a:t>Réduire l’impact écologique (CO₂, particules fines, bruit).</a:t>
            </a:r>
          </a:p>
          <a:p>
            <a:pPr lvl="0"/>
            <a:r>
              <a:rPr lang="fr-FR" sz="2000" b="1" dirty="0"/>
              <a:t>Fournir aux citoyens une information utile, fiable et accessible.</a:t>
            </a:r>
          </a:p>
          <a:p>
            <a:r>
              <a:rPr lang="fr-FR" sz="2000" b="1" dirty="0"/>
              <a:t>Donner aux gestionnaires urbains des outils de simulation et de décision.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4A701D-38C6-09C8-24C8-5995EF1E0817}"/>
              </a:ext>
            </a:extLst>
          </p:cNvPr>
          <p:cNvSpPr/>
          <p:nvPr/>
        </p:nvSpPr>
        <p:spPr>
          <a:xfrm>
            <a:off x="9740348" y="6371351"/>
            <a:ext cx="2019652" cy="432000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04B2E-7ABF-8DE6-0258-29DCE40A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ce réservé d’image 13" descr="Main écrivant sur un pense-bête">
            <a:extLst>
              <a:ext uri="{FF2B5EF4-FFF2-40B4-BE49-F238E27FC236}">
                <a16:creationId xmlns:a16="http://schemas.microsoft.com/office/drawing/2014/main" id="{641E3A0D-D2F8-3FB7-AED0-21096978B81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Rectangle 19" descr="Bloc d’accentuation">
            <a:extLst>
              <a:ext uri="{FF2B5EF4-FFF2-40B4-BE49-F238E27FC236}">
                <a16:creationId xmlns:a16="http://schemas.microsoft.com/office/drawing/2014/main" id="{29F412DA-DD07-4F25-C5CD-5D762A57A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02233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E98CAC-3A8D-A80E-7766-5E2728BE5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512" y="209959"/>
            <a:ext cx="5965487" cy="1648658"/>
          </a:xfrm>
        </p:spPr>
        <p:txBody>
          <a:bodyPr rtlCol="0"/>
          <a:lstStyle/>
          <a:p>
            <a:r>
              <a:rPr lang="en-US" sz="4400" dirty="0" err="1"/>
              <a:t>Fonctionnalités</a:t>
            </a:r>
            <a:r>
              <a:rPr lang="en-US" sz="4400" dirty="0"/>
              <a:t> </a:t>
            </a:r>
            <a:r>
              <a:rPr lang="en-US" sz="4400" dirty="0" err="1"/>
              <a:t>attendues</a:t>
            </a:r>
            <a:endParaRPr lang="fr-FR" sz="440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48DE7A-DD7F-DE86-F20B-FF3E025B2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7999" y="1966342"/>
            <a:ext cx="5472000" cy="4275431"/>
          </a:xfrm>
        </p:spPr>
        <p:txBody>
          <a:bodyPr rtlCol="0"/>
          <a:lstStyle/>
          <a:p>
            <a:pPr lvl="0">
              <a:buFont typeface="Wingdings" panose="05000000000000000000" pitchFamily="2" charset="2"/>
              <a:buChar char="ü"/>
            </a:pPr>
            <a:r>
              <a:rPr lang="fr-FR" sz="2000" dirty="0"/>
              <a:t>Prédictions en temps réel du trafic : modèles hybrides ARIMA + </a:t>
            </a:r>
            <a:r>
              <a:rPr lang="fr-FR" sz="2000" dirty="0" err="1"/>
              <a:t>deep</a:t>
            </a:r>
            <a:r>
              <a:rPr lang="fr-FR" sz="2000" dirty="0"/>
              <a:t> </a:t>
            </a:r>
            <a:r>
              <a:rPr lang="fr-FR" sz="2000" dirty="0" err="1"/>
              <a:t>learning</a:t>
            </a:r>
            <a:r>
              <a:rPr lang="fr-FR" sz="2000" dirty="0"/>
              <a:t>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fr-FR" sz="2000" dirty="0"/>
              <a:t>Recommandations intelligentes : itinéraires, ajustements horaires, alertes.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fr-FR" sz="2000" dirty="0"/>
              <a:t>Tableau de bord interactif : cartes thermiques, outils de simulation.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fr-FR" sz="2000" dirty="0"/>
              <a:t>Intégration données environnementales : pollution, bruit, météo.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fr-FR" sz="2000" dirty="0"/>
              <a:t>Plateforme multi-canal : application mobile, web app, API.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2000" dirty="0"/>
              <a:t>Approches participatives : crowdsourcing et feedback citoyens.</a:t>
            </a:r>
            <a:endParaRPr lang="fr-FR" sz="2000" b="1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DD71DD-DD38-1981-30D7-934BB085E4E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4</a:t>
            </a:fld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B01DC4-69A6-CEE4-EAEC-E43C290388AE}"/>
              </a:ext>
            </a:extLst>
          </p:cNvPr>
          <p:cNvSpPr/>
          <p:nvPr/>
        </p:nvSpPr>
        <p:spPr>
          <a:xfrm>
            <a:off x="9740348" y="6371351"/>
            <a:ext cx="2019652" cy="432000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358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sz="4400" dirty="0"/>
              <a:t>Répartition des rôles entre étudiants</a:t>
            </a:r>
          </a:p>
        </p:txBody>
      </p:sp>
      <p:sp>
        <p:nvSpPr>
          <p:cNvPr id="12" name="Rectangle 11" descr="Bloc d’accentuation gauche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/>
          </a:p>
        </p:txBody>
      </p:sp>
      <p:cxnSp>
        <p:nvCxnSpPr>
          <p:cNvPr id="11" name="Connecteur droit 10" descr="Séparateur de diapositive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 12" descr="Barre d’accentuation droite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5</a:t>
            </a:fld>
            <a:endParaRPr lang="fr-FR"/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53F40F62-047A-C539-2860-26EA85DDB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472177"/>
              </p:ext>
            </p:extLst>
          </p:nvPr>
        </p:nvGraphicFramePr>
        <p:xfrm>
          <a:off x="431800" y="2215142"/>
          <a:ext cx="11445126" cy="4062367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3815042">
                  <a:extLst>
                    <a:ext uri="{9D8B030D-6E8A-4147-A177-3AD203B41FA5}">
                      <a16:colId xmlns:a16="http://schemas.microsoft.com/office/drawing/2014/main" val="1678391900"/>
                    </a:ext>
                  </a:extLst>
                </a:gridCol>
                <a:gridCol w="3815042">
                  <a:extLst>
                    <a:ext uri="{9D8B030D-6E8A-4147-A177-3AD203B41FA5}">
                      <a16:colId xmlns:a16="http://schemas.microsoft.com/office/drawing/2014/main" val="4078158971"/>
                    </a:ext>
                  </a:extLst>
                </a:gridCol>
                <a:gridCol w="3815042">
                  <a:extLst>
                    <a:ext uri="{9D8B030D-6E8A-4147-A177-3AD203B41FA5}">
                      <a16:colId xmlns:a16="http://schemas.microsoft.com/office/drawing/2014/main" val="2494941776"/>
                    </a:ext>
                  </a:extLst>
                </a:gridCol>
              </a:tblGrid>
              <a:tr h="4380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Étudiant</a:t>
                      </a:r>
                      <a:endParaRPr lang="fr-FR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Rôle principal</a:t>
                      </a:r>
                      <a:endParaRPr lang="fr-FR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Missions</a:t>
                      </a:r>
                      <a:endParaRPr lang="fr-FR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0462352"/>
                  </a:ext>
                </a:extLst>
              </a:tr>
              <a:tr h="9060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fr-FR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Data Engineer</a:t>
                      </a:r>
                      <a:endParaRPr lang="fr-FR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>
                          <a:effectLst/>
                        </a:rPr>
                        <a:t>Collecte et pipeline ETL, base de données</a:t>
                      </a:r>
                      <a:endParaRPr lang="fr-FR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3259659"/>
                  </a:ext>
                </a:extLst>
              </a:tr>
              <a:tr h="9060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fr-FR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Data Scientist</a:t>
                      </a:r>
                      <a:endParaRPr lang="fr-FR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Développement modèles prédictifs</a:t>
                      </a:r>
                      <a:endParaRPr lang="fr-FR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1391999"/>
                  </a:ext>
                </a:extLst>
              </a:tr>
              <a:tr h="4380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fr-FR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Développeur Web</a:t>
                      </a:r>
                      <a:endParaRPr lang="fr-FR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Dashboard web + API</a:t>
                      </a:r>
                      <a:endParaRPr lang="fr-FR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5311806"/>
                  </a:ext>
                </a:extLst>
              </a:tr>
              <a:tr h="13741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4</a:t>
                      </a:r>
                      <a:endParaRPr lang="fr-FR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Analyste Green IT</a:t>
                      </a:r>
                      <a:endParaRPr lang="fr-FR" sz="2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dirty="0">
                          <a:effectLst/>
                        </a:rPr>
                        <a:t>Intégration données environnementales, suivi performance</a:t>
                      </a:r>
                      <a:endParaRPr lang="fr-FR" sz="2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5746013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B5CE9DD6-CC96-EFBA-8203-754E02F617C3}"/>
              </a:ext>
            </a:extLst>
          </p:cNvPr>
          <p:cNvSpPr/>
          <p:nvPr/>
        </p:nvSpPr>
        <p:spPr>
          <a:xfrm>
            <a:off x="9740348" y="6371351"/>
            <a:ext cx="2019652" cy="432000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E945E3F5-AD49-EE1F-E9A7-977CE7EA23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fr-FR" sz="3200" dirty="0"/>
              <a:t>EXEMPLE</a:t>
            </a:r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d’image 10" descr="Bureau sur lequel se trouvent un ordinateur, un téléphone, des livres, etc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3288157"/>
            <a:ext cx="5956300" cy="1944000"/>
          </a:xfrm>
        </p:spPr>
        <p:txBody>
          <a:bodyPr tIns="180000" rtlCol="0"/>
          <a:lstStyle/>
          <a:p>
            <a:r>
              <a:rPr lang="fr-FR" dirty="0"/>
              <a:t>Livrables attendus</a:t>
            </a:r>
            <a:endParaRPr lang="fr-FR" sz="60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6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217913-66AF-22D4-62EA-62A3970DC9DA}"/>
              </a:ext>
            </a:extLst>
          </p:cNvPr>
          <p:cNvSpPr/>
          <p:nvPr/>
        </p:nvSpPr>
        <p:spPr>
          <a:xfrm>
            <a:off x="9740348" y="6371351"/>
            <a:ext cx="2019652" cy="432000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0A34EBD-7DEA-4599-A81B-0A363A0E17F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7</a:t>
            </a:fld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7BC26ED-7E45-8B09-5E0B-41EFB6B14694}"/>
              </a:ext>
            </a:extLst>
          </p:cNvPr>
          <p:cNvSpPr txBox="1"/>
          <p:nvPr/>
        </p:nvSpPr>
        <p:spPr>
          <a:xfrm>
            <a:off x="824946" y="1035450"/>
            <a:ext cx="4979504" cy="465531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fr-FR" sz="3600" b="1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MVP &amp; Vidéo</a:t>
            </a:r>
            <a:endParaRPr lang="fr-FR" sz="36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fr-FR" sz="240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Le MVP doit inclure : un pipeline de données fonctionnel, un modèle prédictif opérationnel, un tableau de bord interactif avec visualisation.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endParaRPr lang="fr-FR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fr-FR" sz="240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La vidéo doit présenter : le contexte, les objectifs, une démonstration claire et les perspectives d’évolution.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0DFDD2E-269B-4988-A7DB-94943686AE2D}"/>
              </a:ext>
            </a:extLst>
          </p:cNvPr>
          <p:cNvSpPr txBox="1"/>
          <p:nvPr/>
        </p:nvSpPr>
        <p:spPr>
          <a:xfrm>
            <a:off x="6387550" y="947061"/>
            <a:ext cx="4979504" cy="483209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FR" sz="3600" b="1" dirty="0"/>
              <a:t>Rapport technique final</a:t>
            </a:r>
          </a:p>
          <a:p>
            <a:endParaRPr lang="fr-FR" sz="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400" dirty="0"/>
              <a:t>Introduction et contexte.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400" dirty="0"/>
              <a:t>Architecture détaillée de la solution.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400" dirty="0"/>
              <a:t>Jeux de données utilisés et justification du choix.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400" dirty="0"/>
              <a:t>Méthodologie et modèles prédictifs mis en œuvre.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400" dirty="0"/>
              <a:t>Résultats et tests (métriques de performance, limites).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FR" sz="2400" dirty="0"/>
              <a:t>Documentation utilisateur (guide d’installation et d’utilisation).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3B8AC5-2602-AE0A-2884-9A0C70F9CCC4}"/>
              </a:ext>
            </a:extLst>
          </p:cNvPr>
          <p:cNvSpPr/>
          <p:nvPr/>
        </p:nvSpPr>
        <p:spPr>
          <a:xfrm>
            <a:off x="9740348" y="6371351"/>
            <a:ext cx="2019652" cy="432000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ce réservé d’image 11" descr="Salle de conférence">
            <a:extLst>
              <a:ext uri="{FF2B5EF4-FFF2-40B4-BE49-F238E27FC236}">
                <a16:creationId xmlns:a16="http://schemas.microsoft.com/office/drawing/2014/main" id="{8F5AE0D5-C196-A947-8AFE-449A48B2615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" b="45"/>
          <a:stretch>
            <a:fillRect/>
          </a:stretch>
        </p:blipFill>
        <p:spPr/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86E961-B76E-423F-995E-11B31E921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2913" y="2729108"/>
            <a:ext cx="5687190" cy="1157092"/>
          </a:xfrm>
        </p:spPr>
        <p:txBody>
          <a:bodyPr rtlCol="0"/>
          <a:lstStyle/>
          <a:p>
            <a:pPr rtl="0"/>
            <a:r>
              <a:rPr lang="fr-FR" sz="3600" dirty="0"/>
              <a:t>INTERVENANT </a:t>
            </a:r>
          </a:p>
          <a:p>
            <a:pPr rtl="0"/>
            <a:r>
              <a:rPr lang="fr-FR" sz="3600" dirty="0"/>
              <a:t>ALIMOU DIALLO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202D98-AA1E-41BB-B94E-180311759C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8</a:t>
            </a:fld>
            <a:endParaRPr lang="fr-FR" dirty="0"/>
          </a:p>
        </p:txBody>
      </p:sp>
      <p:sp>
        <p:nvSpPr>
          <p:cNvPr id="11" name="Title 10" hidden="1">
            <a:extLst>
              <a:ext uri="{FF2B5EF4-FFF2-40B4-BE49-F238E27FC236}">
                <a16:creationId xmlns:a16="http://schemas.microsoft.com/office/drawing/2014/main" id="{C5462610-1D7E-437B-B516-F30D9A78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"/>
              <a:t>Large image</a:t>
            </a:r>
          </a:p>
        </p:txBody>
      </p:sp>
    </p:spTree>
    <p:extLst>
      <p:ext uri="{BB962C8B-B14F-4D97-AF65-F5344CB8AC3E}">
        <p14:creationId xmlns:p14="http://schemas.microsoft.com/office/powerpoint/2010/main" val="665219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267129-D582-495A-8F4B-6B9075899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 anchor="ctr">
            <a:normAutofit/>
          </a:bodyPr>
          <a:lstStyle/>
          <a:p>
            <a:pPr rtl="0"/>
            <a:r>
              <a:rPr lang="fr-FR" sz="3000" dirty="0"/>
              <a:t>DATES POSITIONNEES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B0AFE0E-44C6-C576-5BA6-9A903644F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168" y="2416037"/>
            <a:ext cx="4749125" cy="2603224"/>
          </a:xfrm>
          <a:prstGeom prst="rect">
            <a:avLst/>
          </a:prstGeom>
        </p:spPr>
      </p:pic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AEA4D894-48E4-4351-63E4-FE28558CC3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32000" y="6439820"/>
            <a:ext cx="5664000" cy="295062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fr-FR" noProof="0"/>
              <a:t>Ajouter un pied de page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379698-AB4C-493D-BF95-F5781FDF2A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fr-FR" smtClean="0"/>
              <a:pPr rtl="0">
                <a:spcAft>
                  <a:spcPts val="600"/>
                </a:spcAft>
              </a:pPr>
              <a:t>9</a:t>
            </a:fld>
            <a:endParaRPr lang="fr-FR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E437BF86-A169-96B1-7AB0-997C233EE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483751"/>
              </p:ext>
            </p:extLst>
          </p:nvPr>
        </p:nvGraphicFramePr>
        <p:xfrm>
          <a:off x="432000" y="1698541"/>
          <a:ext cx="5472001" cy="4306925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65000"/>
                    <a:lumOff val="35000"/>
                  </a:schemeClr>
                </a:solidFill>
                <a:tableStyleId>{073A0DAA-6AF3-43AB-8588-CEC1D06C72B9}</a:tableStyleId>
              </a:tblPr>
              <a:tblGrid>
                <a:gridCol w="3385944">
                  <a:extLst>
                    <a:ext uri="{9D8B030D-6E8A-4147-A177-3AD203B41FA5}">
                      <a16:colId xmlns:a16="http://schemas.microsoft.com/office/drawing/2014/main" val="3845572284"/>
                    </a:ext>
                  </a:extLst>
                </a:gridCol>
                <a:gridCol w="2086057">
                  <a:extLst>
                    <a:ext uri="{9D8B030D-6E8A-4147-A177-3AD203B41FA5}">
                      <a16:colId xmlns:a16="http://schemas.microsoft.com/office/drawing/2014/main" val="1858373551"/>
                    </a:ext>
                  </a:extLst>
                </a:gridCol>
              </a:tblGrid>
              <a:tr h="6152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lun 06/10/2025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Matin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266683"/>
                  </a:ext>
                </a:extLst>
              </a:tr>
              <a:tr h="6152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lun 12/01/2026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Matin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539635"/>
                  </a:ext>
                </a:extLst>
              </a:tr>
              <a:tr h="6152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lun 12/01/2026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Après-midi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438513"/>
                  </a:ext>
                </a:extLst>
              </a:tr>
              <a:tr h="6152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mer 18/03/2026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Matin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642555"/>
                  </a:ext>
                </a:extLst>
              </a:tr>
              <a:tr h="6152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mer 18/03/2026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Après-midi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19334"/>
                  </a:ext>
                </a:extLst>
              </a:tr>
              <a:tr h="6152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mar 07/04/2026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Après-midi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264519"/>
                  </a:ext>
                </a:extLst>
              </a:tr>
              <a:tr h="61527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jeu 28/05/2026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2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Après-midi</a:t>
                      </a:r>
                      <a:endParaRPr lang="fr-FR" sz="2600" b="0" i="0" u="none" strike="noStrike" cap="none" spc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330" marR="10330" marT="10330" marB="1487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48011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0456E0F-F744-B8E5-1775-68F1A9246DC1}"/>
              </a:ext>
            </a:extLst>
          </p:cNvPr>
          <p:cNvSpPr/>
          <p:nvPr/>
        </p:nvSpPr>
        <p:spPr>
          <a:xfrm>
            <a:off x="9740348" y="6371351"/>
            <a:ext cx="2019652" cy="432000"/>
          </a:xfrm>
          <a:prstGeom prst="rect">
            <a:avLst/>
          </a:prstGeom>
          <a:solidFill>
            <a:srgbClr val="00B0F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Espace réservé d’image 31" descr="Mains en train d’applaudir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itre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tIns="108000" rtlCol="0"/>
          <a:lstStyle/>
          <a:p>
            <a:pPr rtl="0">
              <a:lnSpc>
                <a:spcPct val="70000"/>
              </a:lnSpc>
            </a:pPr>
            <a:r>
              <a:rPr lang="fr-FR" sz="4000" dirty="0"/>
              <a:t>Merci de votre attention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fr-FR"/>
              <a:t>Héloïse Cartier</a:t>
            </a:r>
          </a:p>
        </p:txBody>
      </p:sp>
      <p:pic>
        <p:nvPicPr>
          <p:cNvPr id="8" name="Graphisme 7" descr="Utilisateur" title="Icône - Nom du présentateur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85495" y="4006655"/>
            <a:ext cx="218900" cy="218900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fr-FR"/>
              <a:t>+1 23 45 67 89</a:t>
            </a:r>
          </a:p>
        </p:txBody>
      </p:sp>
      <p:pic>
        <p:nvPicPr>
          <p:cNvPr id="10" name="Graphisme 9" descr="Smartphone" title="Icône - Numéro de téléphone du présentateur">
            <a:extLst>
              <a:ext uri="{FF2B5EF4-FFF2-40B4-BE49-F238E27FC236}">
                <a16:creationId xmlns:a16="http://schemas.microsoft.com/office/drawing/2014/main" id="{A29DE31C-E099-4579-BB03-675E0A40C5F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85495" y="4355103"/>
            <a:ext cx="218900" cy="218900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fr-FR"/>
              <a:t>heloise@treyresearch.com</a:t>
            </a:r>
          </a:p>
        </p:txBody>
      </p:sp>
      <p:pic>
        <p:nvPicPr>
          <p:cNvPr id="9" name="Graphisme 8" descr="Enveloppe" title="Icône - Adresse e-mail du présentateur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85495" y="4703551"/>
            <a:ext cx="218900" cy="218900"/>
          </a:xfrm>
          <a:prstGeom prst="rect">
            <a:avLst/>
          </a:prstGeom>
        </p:spPr>
      </p:pic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FD8A1232-50A8-4535-AAF9-7F4180EAA0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fr-FR"/>
              <a:t>Trey Research</a:t>
            </a:r>
          </a:p>
        </p:txBody>
      </p:sp>
      <p:pic>
        <p:nvPicPr>
          <p:cNvPr id="11" name="Graphisme 10" descr="Lien">
            <a:extLst>
              <a:ext uri="{FF2B5EF4-FFF2-40B4-BE49-F238E27FC236}">
                <a16:creationId xmlns:a16="http://schemas.microsoft.com/office/drawing/2014/main" id="{0718E6E0-05A2-479C-AEA8-1A385EB73474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72552" y="5040763"/>
            <a:ext cx="244786" cy="244786"/>
          </a:xfrm>
          <a:prstGeom prst="rect">
            <a:avLst/>
          </a:prstGeom>
        </p:spPr>
      </p:pic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fr-FR" smtClean="0"/>
              <a:pPr rtl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5838_TF16411250.potx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DAA0B7BD55CE46A1128AE92CA0616E" ma:contentTypeVersion="0" ma:contentTypeDescription="Crée un document." ma:contentTypeScope="" ma:versionID="e527be8d7f055e16b6e20f1971e6b46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2f11e83d12cbdd0fcf0b62744a2ab94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265BAD-B60F-42FC-ABC1-2636A21EF6D7}"/>
</file>

<file path=customXml/itemProps2.xml><?xml version="1.0" encoding="utf-8"?>
<ds:datastoreItem xmlns:ds="http://schemas.openxmlformats.org/officeDocument/2006/customXml" ds:itemID="{EB2218FC-8412-44B9-9E82-D51F1F531141}">
  <ds:schemaRefs>
    <ds:schemaRef ds:uri="http://purl.org/dc/dcmitype/"/>
    <ds:schemaRef ds:uri="6dc4bcd6-49db-4c07-9060-8acfc67cef9f"/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fb0879af-3eba-417a-a55a-ffe6dcd6ca7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754015E-A445-436C-9392-A58DD7C1855E}"/>
</file>

<file path=docProps/app.xml><?xml version="1.0" encoding="utf-8"?>
<Properties xmlns="http://schemas.openxmlformats.org/officeDocument/2006/extended-properties" xmlns:vt="http://schemas.openxmlformats.org/officeDocument/2006/docPropsVTypes">
  <Template>{9113FBB4-165C-4FC7-8218-786D53CE8925}TF992e0334-4647-4579-8d14-183019b0908c530978df_win32-28e49dbdf6c2</Template>
  <TotalTime>48</TotalTime>
  <Words>434</Words>
  <Application>Microsoft Office PowerPoint</Application>
  <PresentationFormat>Grand écran</PresentationFormat>
  <Paragraphs>95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Cambria</vt:lpstr>
      <vt:lpstr>Candara</vt:lpstr>
      <vt:lpstr>Corbel</vt:lpstr>
      <vt:lpstr>Symbol</vt:lpstr>
      <vt:lpstr>Times New Roman</vt:lpstr>
      <vt:lpstr>Wingdings</vt:lpstr>
      <vt:lpstr>Personnalisé</vt:lpstr>
      <vt:lpstr>Lancement du Projet d’Études  M2 Big Data &amp; IA 2025</vt:lpstr>
      <vt:lpstr>Contexte et problématique</vt:lpstr>
      <vt:lpstr>Objectifs du  projet</vt:lpstr>
      <vt:lpstr>Fonctionnalités attendues</vt:lpstr>
      <vt:lpstr>Répartition des rôles entre étudiants</vt:lpstr>
      <vt:lpstr>Livrables attendus</vt:lpstr>
      <vt:lpstr>Présentation PowerPoint</vt:lpstr>
      <vt:lpstr>Large image</vt:lpstr>
      <vt:lpstr>DATES POSITIONNEES</vt:lpstr>
      <vt:lpstr>Merci de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Patricia GAUTHIER</dc:creator>
  <cp:lastModifiedBy>Patricia GAUTHIER</cp:lastModifiedBy>
  <cp:revision>1</cp:revision>
  <dcterms:created xsi:type="dcterms:W3CDTF">2025-10-05T17:35:53Z</dcterms:created>
  <dcterms:modified xsi:type="dcterms:W3CDTF">2025-10-05T18:23:54Z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0x010100F9DAA0B7BD55CE46A1128AE92CA0616E</vt:lpwstr>
  </property>
</Properties>
</file>